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Healthcare Lab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6B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整體架構與部署概覽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023360" y="393192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以單一控制平面串接 HL7 v2、FHIR R4、GDT 2.1 與 DICOM 的本機互通測試環境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487168" cy="4919472"/>
          </a:xfrm>
          <a:prstGeom prst="roundRect">
            <a:avLst>
              <a:gd name="adj" fmla="val 3676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36192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10" kern="0" dirty="0">
                <a:solidFill>
                  <a:srgbClr val="9FD8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Compose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222199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3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支援路徑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26243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633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services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755648" y="2624328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10160">
            <a:solidFill>
              <a:srgbClr val="176B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263347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linux/amd64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318211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2B1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216 MB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9808" y="363931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6E3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image 本機實測（release baseline）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49808" y="416052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~6.3 GB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9808" y="457200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FD3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 runtime images 合計；未扣共享 layers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49808" y="5138928"/>
            <a:ext cx="1975104" cy="393192"/>
          </a:xfrm>
          <a:prstGeom prst="rect">
            <a:avLst/>
          </a:prstGeom>
          <a:solidFill>
            <a:srgbClr val="173E58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.\deploy\lab.ps1 start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5641848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D6E3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  http://127.0.0.1:5000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310128" y="1280160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一個入口，四種協定工作流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310128" y="1755648"/>
            <a:ext cx="5138928" cy="960120"/>
          </a:xfrm>
          <a:prstGeom prst="roundRect">
            <a:avLst>
              <a:gd name="adj" fmla="val 7619"/>
            </a:avLst>
          </a:prstGeom>
          <a:solidFill>
            <a:srgbClr val="EAF4F7"/>
          </a:solidFill>
          <a:ln w="10160">
            <a:solidFill>
              <a:srgbClr val="C9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6B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Healthcare Lab Control Plane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566160" y="22677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Flask + Gunicorn｜Dashboard｜Settings｜Workflow Ledger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360920" y="1965960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10160">
            <a:solidFill>
              <a:srgbClr val="176B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9751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:5000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79592" y="2724912"/>
            <a:ext cx="0" cy="365760"/>
          </a:xfrm>
          <a:prstGeom prst="line">
            <a:avLst/>
          </a:prstGeom>
          <a:noFill/>
          <a:ln w="27940">
            <a:solidFill>
              <a:srgbClr val="176B8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10128" y="3200400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8E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3200400"/>
            <a:ext cx="82296" cy="1170432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3328416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OIE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11296" y="3621024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F6A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HL7 v2.5.1 / MLLP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11296" y="3840480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ADT、ORM、ORU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Channel 管理與 ACK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025896" y="3200400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8E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5896" y="3200400"/>
            <a:ext cx="82296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3328416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Medplum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27064" y="3621024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FHIR R4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27064" y="3840480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Patient、ServiceRequest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DiagnosticReport / Observation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3310128" y="4599432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8E5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10128" y="4599432"/>
            <a:ext cx="82296" cy="1170432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11296" y="472744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GDT Bridge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511296" y="5020056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GDT 2.1 / Shared Folder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511296" y="5239512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6302 訂單匯出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6310 結果匯入與對帳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6025896" y="4599432"/>
            <a:ext cx="2423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8E5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25896" y="4599432"/>
            <a:ext cx="82296" cy="11704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472744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dcm4chee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27064" y="5020056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6B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DICOM / DICOMweb / HL7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227064" y="5239512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Patient Sync、MWL、Study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12-lead ECG Viewer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5760720" y="3584448"/>
            <a:ext cx="201168" cy="256032"/>
          </a:xfrm>
          <a:prstGeom prst="chevron">
            <a:avLst/>
          </a:prstGeom>
          <a:solidFill>
            <a:srgbClr val="AFC9D3"/>
          </a:solidFill>
          <a:ln w="12700">
            <a:solidFill>
              <a:srgbClr val="AFC9D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4983480"/>
            <a:ext cx="201168" cy="256032"/>
          </a:xfrm>
          <a:prstGeom prst="chevron">
            <a:avLst/>
          </a:prstGeom>
          <a:solidFill>
            <a:srgbClr val="AFC9D3"/>
          </a:solidFill>
          <a:ln w="12700">
            <a:solidFill>
              <a:srgbClr val="AFC9D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33104" y="128016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Runtime boundary</a:t>
            </a:r>
            <a:endParaRPr lang="en-US" sz="1900" dirty="0"/>
          </a:p>
        </p:txBody>
      </p:sp>
      <p:sp>
        <p:nvSpPr>
          <p:cNvPr id="49" name="Shape 47"/>
          <p:cNvSpPr/>
          <p:nvPr/>
        </p:nvSpPr>
        <p:spPr>
          <a:xfrm>
            <a:off x="8833104" y="1755648"/>
            <a:ext cx="28163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8E5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70848" y="1938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6B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network: lab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70848" y="226771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服務名稱作為內部 DNS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host ports 供 UI / AP / 測試工具使用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8833104" y="3127248"/>
            <a:ext cx="2816352" cy="1280160"/>
          </a:xfrm>
          <a:prstGeom prst="roundRect">
            <a:avLst>
              <a:gd name="adj" fmla="val 5714"/>
            </a:avLst>
          </a:prstGeom>
          <a:solidFill>
            <a:srgbClr val="DDF5EF"/>
          </a:solidFill>
          <a:ln w="10160">
            <a:solidFill>
              <a:srgbClr val="B7DE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70848" y="33101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Persistent state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70848" y="36393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workflow ledger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Postgres / Redis / LDAP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DICOM archive + GDT shared folder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8833104" y="4645152"/>
            <a:ext cx="2816352" cy="1124712"/>
          </a:xfrm>
          <a:prstGeom prst="roundRect">
            <a:avLst>
              <a:gd name="adj" fmla="val 6504"/>
            </a:avLst>
          </a:prstGeom>
          <a:solidFill>
            <a:srgbClr val="FFF4DC"/>
          </a:solidFill>
          <a:ln w="10160">
            <a:solidFill>
              <a:srgbClr val="EBCB8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70848" y="48280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56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Verified scope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070848" y="5166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2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Desktop / trusted Linux host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62B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Virtual data only｜single instance</a:t>
            </a:r>
            <a:endParaRPr lang="en-US" sz="1120" dirty="0"/>
          </a:p>
        </p:txBody>
      </p:sp>
      <p:sp>
        <p:nvSpPr>
          <p:cNvPr id="58" name="Text 56"/>
          <p:cNvSpPr/>
          <p:nvPr/>
        </p:nvSpPr>
        <p:spPr>
          <a:xfrm>
            <a:off x="3310128" y="606247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Operational flow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370832" y="6025896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6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 →  status  →  smoke all  →  logs / restart</a:t>
            </a:r>
            <a:endParaRPr lang="en-US" sz="1120" dirty="0"/>
          </a:p>
        </p:txBody>
      </p:sp>
      <p:sp>
        <p:nvSpPr>
          <p:cNvPr id="60" name="Text 58"/>
          <p:cNvSpPr/>
          <p:nvPr/>
        </p:nvSpPr>
        <p:spPr>
          <a:xfrm>
            <a:off x="8833104" y="600760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v1.2.0｜958 tests passed｜Local interoperability workbench, not a production clinical system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011680" cy="256032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896"/>
                </a:solidFill>
                <a:latin typeface="Microsoft JhengHei"/>
              </a:rPr>
              <a:t>DICOM ECG 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6766560" cy="438912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Microsoft JhengHei"/>
              </a:rPr>
              <a:t>ECG 顯示參數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457200"/>
            <a:ext cx="4206240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r"/>
            <a:r>
              <a:rPr sz="1100" b="0">
                <a:solidFill>
                  <a:srgbClr val="627D8C"/>
                </a:solidFill>
                <a:latin typeface="Microsoft JhengHei"/>
              </a:rPr>
              <a:t>固定校正基準與瀏覽器呈現設定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36576"/>
          </a:xfrm>
          <a:prstGeom prst="rect">
            <a:avLst/>
          </a:prstGeom>
          <a:solidFill>
            <a:srgbClr val="00A896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468880" cy="420624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參數／項目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234440"/>
            <a:ext cx="3063240" cy="420624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目前設定／限制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34440"/>
            <a:ext cx="5623560" cy="420624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說明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55064"/>
            <a:ext cx="246888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243B53"/>
                </a:solidFill>
                <a:latin typeface="Microsoft JhengHei"/>
              </a:rPr>
              <a:t>紙速（Paper Speed）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655064"/>
            <a:ext cx="306324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176B87"/>
                </a:solidFill>
                <a:latin typeface="Microsoft JhengHei"/>
              </a:rPr>
              <a:t>25 mm/s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55064"/>
            <a:ext cx="562356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0">
                <a:solidFill>
                  <a:srgbClr val="243B53"/>
                </a:solidFill>
                <a:latin typeface="Microsoft JhengHei"/>
              </a:rPr>
              <a:t>水平時間刻度；小格 1 mm = 0.04 秒，大格 5 mm = 0.2 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84400"/>
            <a:ext cx="246888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243B53"/>
                </a:solidFill>
                <a:latin typeface="Microsoft JhengHei"/>
              </a:rPr>
              <a:t>電壓增益（Voltage Gain）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184400"/>
            <a:ext cx="306324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176B87"/>
                </a:solidFill>
                <a:latin typeface="Microsoft JhengHei"/>
              </a:rPr>
              <a:t>10 mm/mV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184400"/>
            <a:ext cx="562356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0">
                <a:solidFill>
                  <a:srgbClr val="243B53"/>
                </a:solidFill>
                <a:latin typeface="Microsoft JhengHei"/>
              </a:rPr>
              <a:t>垂直振幅刻度；小格 1 mm = 0.1 mV，大格 5 mm = 0.5 mV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13736"/>
            <a:ext cx="246888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243B53"/>
                </a:solidFill>
                <a:latin typeface="Microsoft JhengHei"/>
              </a:rPr>
              <a:t>顯示振幅範圍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713736"/>
            <a:ext cx="306324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176B87"/>
                </a:solidFill>
                <a:latin typeface="Microsoft JhengHei"/>
              </a:rPr>
              <a:t>每導程 ±2 mV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713736"/>
            <a:ext cx="562356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0">
                <a:solidFill>
                  <a:srgbClr val="243B53"/>
                </a:solidFill>
                <a:latin typeface="Microsoft JhengHei"/>
              </a:rPr>
              <a:t>超過固定顯示範圍時顯示警告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43072"/>
            <a:ext cx="246888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243B53"/>
                </a:solidFill>
                <a:latin typeface="Microsoft JhengHei"/>
              </a:rPr>
              <a:t>Baseline 校正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3243072"/>
            <a:ext cx="306324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176B87"/>
                </a:solidFill>
                <a:latin typeface="Microsoft JhengHei"/>
              </a:rPr>
              <a:t>開啟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243072"/>
            <a:ext cx="562356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0">
                <a:solidFill>
                  <a:srgbClr val="243B53"/>
                </a:solidFill>
                <a:latin typeface="Microsoft JhengHei"/>
              </a:rPr>
              <a:t>以各導程樣本中位數置中顯示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72408"/>
            <a:ext cx="246888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243B53"/>
                </a:solidFill>
                <a:latin typeface="Microsoft JhengHei"/>
              </a:rPr>
              <a:t>導程順序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772408"/>
            <a:ext cx="306324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176B87"/>
                </a:solidFill>
                <a:latin typeface="Microsoft JhengHei"/>
              </a:rPr>
              <a:t>I、II、III、aVR、aVL、aVF、V1–V6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772408"/>
            <a:ext cx="562356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0">
                <a:solidFill>
                  <a:srgbClr val="243B53"/>
                </a:solidFill>
                <a:latin typeface="Microsoft JhengHei"/>
              </a:rPr>
              <a:t>固定標準 12 導程順序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01744"/>
            <a:ext cx="246888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243B53"/>
                </a:solidFill>
                <a:latin typeface="Microsoft JhengHei"/>
              </a:rPr>
              <a:t>顯示版面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4301744"/>
            <a:ext cx="306324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176B87"/>
                </a:solidFill>
                <a:latin typeface="Microsoft JhengHei"/>
              </a:rPr>
              <a:t>兩欄，每欄六列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301744"/>
            <a:ext cx="562356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0">
                <a:solidFill>
                  <a:srgbClr val="243B53"/>
                </a:solidFill>
                <a:latin typeface="Microsoft JhengHei"/>
              </a:rPr>
              <a:t>肢體導程與胸前導程分欄顯示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831080"/>
            <a:ext cx="246888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243B53"/>
                </a:solidFill>
                <a:latin typeface="Microsoft JhengHei"/>
              </a:rPr>
              <a:t>SVG 尺寸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4831080"/>
            <a:ext cx="306324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176B87"/>
                </a:solidFill>
                <a:latin typeface="Microsoft JhengHei"/>
              </a:rPr>
              <a:t>1600 × 800 px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831080"/>
            <a:ext cx="562356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0">
                <a:solidFill>
                  <a:srgbClr val="243B53"/>
                </a:solidFill>
                <a:latin typeface="Microsoft JhengHei"/>
              </a:rPr>
              <a:t>瀏覽器顯示用的預設輸出尺寸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360416"/>
            <a:ext cx="246888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243B53"/>
                </a:solidFill>
                <a:latin typeface="Microsoft JhengHei"/>
              </a:rPr>
              <a:t>兩欄間距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5360416"/>
            <a:ext cx="306324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176B87"/>
                </a:solidFill>
                <a:latin typeface="Microsoft JhengHei"/>
              </a:rPr>
              <a:t>0.25 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360416"/>
            <a:ext cx="5623560" cy="529336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0">
                <a:solidFill>
                  <a:srgbClr val="243B53"/>
                </a:solidFill>
                <a:latin typeface="Microsoft JhengHei"/>
              </a:rPr>
              <a:t>兩欄波形之間的視覺間隔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889752"/>
            <a:ext cx="246888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243B53"/>
                </a:solidFill>
                <a:latin typeface="Microsoft JhengHei"/>
              </a:rPr>
              <a:t>顯示定位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5889752"/>
            <a:ext cx="306324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1">
                <a:solidFill>
                  <a:srgbClr val="176B87"/>
                </a:solidFill>
                <a:latin typeface="Microsoft JhengHei"/>
              </a:rPr>
              <a:t>展示用途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5889752"/>
            <a:ext cx="5623560" cy="529336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019" b="0">
                <a:solidFill>
                  <a:srgbClr val="243B53"/>
                </a:solidFill>
                <a:latin typeface="Microsoft JhengHei"/>
              </a:rPr>
              <a:t>名義刻度；不保證螢幕或列印後的實體毫米尺寸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10528"/>
            <a:ext cx="10561320" cy="20116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EF6A5B"/>
                </a:solidFill>
                <a:latin typeface="Microsoft JhengHei"/>
              </a:rPr>
              <a:t>Healthcare Lab ECG Viewer｜Demonstration only — not for diagnostic 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r"/>
            <a:r>
              <a:rPr sz="850" b="0">
                <a:solidFill>
                  <a:srgbClr val="627D8C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011680" cy="256032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896"/>
                </a:solidFill>
                <a:latin typeface="Microsoft JhengHei"/>
              </a:rPr>
              <a:t>DICOM ECG 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6766560" cy="438912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Microsoft JhengHei"/>
              </a:rPr>
              <a:t>DICOM 資料與系統限制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2360" y="457200"/>
            <a:ext cx="4206240" cy="38404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r"/>
            <a:r>
              <a:rPr sz="1100" b="0">
                <a:solidFill>
                  <a:srgbClr val="627D8C"/>
                </a:solidFill>
                <a:latin typeface="Microsoft JhengHei"/>
              </a:rPr>
              <a:t>解析契約、渲染邊界與 WADO-RS 保護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36576"/>
          </a:xfrm>
          <a:prstGeom prst="rect">
            <a:avLst/>
          </a:prstGeom>
          <a:solidFill>
            <a:srgbClr val="00A896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423160" cy="420624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參數／項目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234440"/>
            <a:ext cx="3657600" cy="420624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目前設定／限制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234440"/>
            <a:ext cx="5074920" cy="420624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說明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55064"/>
            <a:ext cx="242316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支援的 SOP 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655064"/>
            <a:ext cx="365760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Twelve-lead ECG、General ECG Waveform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655064"/>
            <a:ext cx="507492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其他 DICOM 類型不顯示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52066"/>
            <a:ext cx="242316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Waveform Sequence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052066"/>
            <a:ext cx="365760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必須正好一組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052066"/>
            <a:ext cx="507492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缺少或多組都會拒絕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49068"/>
            <a:ext cx="242316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導程要求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449068"/>
            <a:ext cx="365760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完整 12 個 SCPECG 導程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449068"/>
            <a:ext cx="507492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不接受缺少、重複或無法識別的導程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46070"/>
            <a:ext cx="242316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樣本格式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846070"/>
            <a:ext cx="365760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Signed 16-bit（SS）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846070"/>
            <a:ext cx="507492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其他 sample representation 暫不支援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43072"/>
            <a:ext cx="242316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電壓單位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243072"/>
            <a:ext cx="365760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UCUM V、mV、uV／µV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243072"/>
            <a:ext cx="507492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解析後統一換算成 mV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40074"/>
            <a:ext cx="242316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取樣頻率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640074"/>
            <a:ext cx="365760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從 DICOM 讀取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640074"/>
            <a:ext cx="507492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測試資料預期 1000 Hz，並非前端寫死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37076"/>
            <a:ext cx="242316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每導程樣本上限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037076"/>
            <a:ext cx="365760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10,000 samples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037076"/>
            <a:ext cx="507492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避免過大的繪圖負載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34078"/>
            <a:ext cx="242316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顯示時間上限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434078"/>
            <a:ext cx="365760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10 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434078"/>
            <a:ext cx="507492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目前以 10 秒 resting ECG 為目標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831080"/>
            <a:ext cx="242316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WADO-RS Timeout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4831080"/>
            <a:ext cx="365760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預設 30 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831080"/>
            <a:ext cx="507492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可由 dcm4chee profile 調整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228081"/>
            <a:ext cx="242316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DICOM instance 上限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5228081"/>
            <a:ext cx="365760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32 MB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5228081"/>
            <a:ext cx="507492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超過大小限制即停止下載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625084"/>
            <a:ext cx="242316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可設定紙速範圍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5625084"/>
            <a:ext cx="365760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1–100 mm/s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5625084"/>
            <a:ext cx="5074920" cy="397002"/>
          </a:xfrm>
          <a:prstGeom prst="rect">
            <a:avLst/>
          </a:prstGeom>
          <a:solidFill>
            <a:srgbClr val="FFFFFF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目前 API 使用預設 25 mm/s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022086"/>
            <a:ext cx="242316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243B53"/>
                </a:solidFill>
                <a:latin typeface="Microsoft JhengHei"/>
              </a:rPr>
              <a:t>可設定增益範圍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6022086"/>
            <a:ext cx="365760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1">
                <a:solidFill>
                  <a:srgbClr val="176B87"/>
                </a:solidFill>
                <a:latin typeface="Microsoft JhengHei"/>
              </a:rPr>
              <a:t>1–100 mm/mV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6022086"/>
            <a:ext cx="5074920" cy="397002"/>
          </a:xfrm>
          <a:prstGeom prst="rect">
            <a:avLst/>
          </a:prstGeom>
          <a:solidFill>
            <a:srgbClr val="F7FAFC"/>
          </a:solidFill>
          <a:ln w="8890">
            <a:solidFill>
              <a:srgbClr val="AF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l"/>
            <a:r>
              <a:rPr sz="919" b="0">
                <a:solidFill>
                  <a:srgbClr val="243B53"/>
                </a:solidFill>
                <a:latin typeface="Microsoft JhengHei"/>
              </a:rPr>
              <a:t>目前 API 使用預設 10 mm/mV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510528"/>
            <a:ext cx="10561320" cy="20116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EF6A5B"/>
                </a:solidFill>
                <a:latin typeface="Microsoft JhengHei"/>
              </a:rPr>
              <a:t>Healthcare Lab ECG Viewer｜Demonstration only — not for diagnostic use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</p:spPr>
        <p:txBody>
          <a:bodyPr wrap="none" lIns="73152" rIns="73152" tIns="27432" bIns="27432" anchor="ctr">
            <a:spAutoFit/>
          </a:bodyPr>
          <a:lstStyle/>
          <a:p>
            <a:pPr algn="r"/>
            <a:r>
              <a:rPr sz="850" b="0">
                <a:solidFill>
                  <a:srgbClr val="627D8C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Healthcare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Lab｜整體架構與部署概覽</dc:title>
  <dc:subject>Healthcare Lab overall architecture and deployment overview</dc:subject>
  <dc:creator>Healthcare Lab</dc:creator>
  <cp:lastModifiedBy>Healthcare Lab</cp:lastModifiedBy>
  <cp:revision>1</cp:revision>
  <dcterms:created xsi:type="dcterms:W3CDTF">2026-07-30T01:41:30Z</dcterms:created>
  <dcterms:modified xsi:type="dcterms:W3CDTF">2026-07-30T01:41:30Z</dcterms:modified>
</cp:coreProperties>
</file>